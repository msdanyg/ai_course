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4203F"/>
                </a:solidFill>
                <a:latin typeface="Century Gothic"/>
              </a:defRPr>
            </a:pPr>
            <a:r>
              <a:t>Module 0: Pre-Flight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9316A"/>
                </a:solidFill>
                <a:latin typeface="Century Gothic"/>
              </a:defRPr>
            </a:pPr>
            <a:r>
              <a:t>Setup, Policy and Boundaries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7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"Every pilot completes a pre-flight check before takeoff."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ED4B5"/>
                </a:solidFill>
                <a:latin typeface="Century Gothic"/>
              </a:defRPr>
            </a:pPr>
            <a:r>
              <a:t>It's not bureaucracy - it's what separates safe flights from disasters.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7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2E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entury Gothic"/>
              </a:defRPr>
            </a:pPr>
            <a:r>
              <a:t>The Squadron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The Squadron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011680" cy="274320"/>
          </a:xfrm>
          <a:prstGeom prst="rect">
            <a:avLst/>
          </a:prstGeom>
          <a:solidFill>
            <a:srgbClr val="142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03F"/>
                </a:solidFill>
                <a:latin typeface="Century Gothic"/>
              </a:defRPr>
            </a:pPr>
            <a:r>
              <a:t>Mission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4203F"/>
                </a:solidFill>
                <a:latin typeface="Century Gothic"/>
              </a:defRPr>
            </a:pPr>
            <a:r>
              <a:t>Reasoning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260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9316A"/>
                </a:solidFill>
                <a:latin typeface="Century Gothic"/>
              </a:defRPr>
            </a:pPr>
            <a:r>
              <a:t>Claude, ChatGPT, Claude Code, Cursor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137160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79" y="1371600"/>
            <a:ext cx="2011680" cy="274320"/>
          </a:xfrm>
          <a:prstGeom prst="rect">
            <a:avLst/>
          </a:prstGeom>
          <a:solidFill>
            <a:srgbClr val="165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79" y="18288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03F"/>
                </a:solidFill>
                <a:latin typeface="Century Gothic"/>
              </a:defRPr>
            </a:pPr>
            <a:r>
              <a:t>Recon &amp;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2377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657A0"/>
                </a:solidFill>
                <a:latin typeface="Century Gothic"/>
              </a:defRPr>
            </a:pPr>
            <a:r>
              <a:t>Research &amp;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9260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9316A"/>
                </a:solidFill>
                <a:latin typeface="Century Gothic"/>
              </a:defRPr>
            </a:pPr>
            <a:r>
              <a:t>Gemini, Perplexity, NotebookLM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37160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371600"/>
            <a:ext cx="2011680" cy="274320"/>
          </a:xfrm>
          <a:prstGeom prst="rect">
            <a:avLst/>
          </a:prstGeom>
          <a:solidFill>
            <a:srgbClr val="2E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288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03F"/>
                </a:solidFill>
                <a:latin typeface="Century Gothic"/>
              </a:defRPr>
            </a:pPr>
            <a:r>
              <a:t>Flight Recorder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77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ED4B5"/>
                </a:solidFill>
                <a:latin typeface="Century Gothic"/>
              </a:defRPr>
            </a:pPr>
            <a:r>
              <a:t>Capture &amp;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260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9316A"/>
                </a:solidFill>
                <a:latin typeface="Century Gothic"/>
              </a:defRPr>
            </a:pPr>
            <a:r>
              <a:t>Granola, Chorus.ai, Zoom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7999" y="137160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7999" y="1371600"/>
            <a:ext cx="2011680" cy="27432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7999" y="18288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03F"/>
                </a:solidFill>
                <a:latin typeface="Century Gothic"/>
              </a:defRPr>
            </a:pPr>
            <a:r>
              <a:t>Specialized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2377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9316A"/>
                </a:solidFill>
                <a:latin typeface="Century Gothic"/>
              </a:defRPr>
            </a:pPr>
            <a:r>
              <a:t>Domain-Specific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29260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19316A"/>
                </a:solidFill>
                <a:latin typeface="Century Gothic"/>
              </a:defRPr>
            </a:pPr>
            <a:r>
              <a:t>Figma AI, Zendesk AI, ChurnZero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2ED4B5"/>
                </a:solidFill>
                <a:latin typeface="Century Gothic"/>
              </a:defRPr>
            </a:pPr>
            <a:r>
              <a:t>Your Squadron = Your Available Tools. Think in roles, not specific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Why Think in Roles?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Your Squadron depends on what tools you have access to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You don't need every tool - understand what roles your tools fill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Match tasks to capabilities, not to specific tool names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Different employees have different tools - that's expected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Matching Tasks to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Draft a competitive positioning email - Mission Control (Claude, ChatGPT)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Check competitor's current pricing - Recon and Radar (Gemini, Perplexity)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Summarize yesterday's client call - Flight Recorder then Mission Control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Research market trends with citations - Recon and Radar (Gemini)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7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2E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entury Gothic"/>
              </a:defRPr>
            </a:pPr>
            <a:r>
              <a:t>The Traffic Light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7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"The risk is rarely in analyzing data. The risk is in sharing unreviewed AI output."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The Traffic Light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743200" cy="201168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6534"/>
                </a:solidFill>
                <a:latin typeface="Century Gothic"/>
              </a:defRPr>
            </a:pPr>
            <a:r>
              <a:t>GREEN: Go Freely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203F"/>
                </a:solidFill>
                <a:latin typeface="Century Gothic"/>
              </a:defRPr>
            </a:pPr>
            <a:r>
              <a:t>Customer data, internal docs, analytics, business communications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43200" cy="2011680"/>
          </a:xfrm>
          <a:prstGeom prst="roundRect">
            <a:avLst/>
          </a:prstGeom>
          <a:solidFill>
            <a:srgbClr val="FEF9C3"/>
          </a:solidFill>
          <a:ln w="381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63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2400E"/>
                </a:solidFill>
                <a:latin typeface="Century Gothic"/>
              </a:defRPr>
            </a:pPr>
            <a:r>
              <a:t>YELLOW: Review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203F"/>
                </a:solidFill>
                <a:latin typeface="Century Gothic"/>
              </a:defRPr>
            </a:pPr>
            <a:r>
              <a:t>Marketing with PII, competitive intel, NDA-covered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743200" cy="2011680"/>
          </a:xfrm>
          <a:prstGeom prst="roundRect">
            <a:avLst/>
          </a:prstGeom>
          <a:solidFill>
            <a:srgbClr val="FEE2E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91B1B"/>
                </a:solidFill>
                <a:latin typeface="Century Gothic"/>
              </a:defRPr>
            </a:pPr>
            <a:r>
              <a:t>RED: Never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4203F"/>
                </a:solidFill>
                <a:latin typeface="Century Gothic"/>
              </a:defRPr>
            </a:pPr>
            <a:r>
              <a:t>API keys, passwords, credentials, security configs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7315200" cy="1371600"/>
          </a:xfrm>
          <a:prstGeom prst="roundRect">
            <a:avLst/>
          </a:prstGeom>
          <a:solidFill>
            <a:srgbClr val="F0F8F5"/>
          </a:solidFill>
          <a:ln w="25400">
            <a:solidFill>
              <a:srgbClr val="2ED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203F"/>
                </a:solidFill>
                <a:latin typeface="Century Gothic"/>
              </a:defRPr>
            </a:pPr>
            <a:r>
              <a:t>"AI drafts. Humans send."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9316A"/>
                </a:solidFill>
                <a:latin typeface="Century Gothic"/>
              </a:defRPr>
            </a:pPr>
            <a:r>
              <a:t>You clear missions for takeoff. You own what leaves the runway.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Green Zone: Go Freely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Customer names, emails, deal information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Internal documents (meeting notes, project plans)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Usage data and analytics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Business communications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Why green? AI processes privately. Review outputs before sharing externally.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Yellow and Red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316A"/>
                </a:solidFill>
                <a:latin typeface="Century Gothic"/>
              </a:defRPr>
            </a:pPr>
            <a:r>
              <a:t>Yellow: Review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Marketing collateral with customer PII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Competitive intelligence with source details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Third-party data under NDA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May need PR, Legal, or partner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316A"/>
                </a:solidFill>
                <a:latin typeface="Century Gothic"/>
              </a:defRPr>
            </a:pPr>
            <a:r>
              <a:t>Red: Never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API keys and passwords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Admin credentials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Security configurations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If in doubt, don't include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7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2E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entury Gothic"/>
              </a:defRPr>
            </a:pPr>
            <a:r>
              <a:t>Setting Up Your Cockpit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Inventory Your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Mission Control: Do you have Claude, ChatGPT, Claude Code, or Cursor?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Recon and Radar: Do you have Gemini? Perplexity?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Flight Recorder: Granola, Chorus, or Zoom AI summaries?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Specialized Units: What department-specific AI tools do you have?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Configuration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Verify each tool is working (log in, run a test prompt)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Check if you can upload files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Note any special features or limitations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Gemini is available company-wide for research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If missing Mission Control, request Claude or ChatGPT from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Restricted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Some AI tools are NOT approved for ActivTrak use: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DeepSeek AI - Security concerns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RedNote AI apps - Security concerns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When in doubt about a tool, check with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57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2E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entury Gothic"/>
              </a:defRPr>
            </a:pPr>
            <a:r>
              <a:t>The Squadron Mindset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Solo Pilot vs Squadron Leader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316A"/>
                </a:solidFill>
                <a:latin typeface="Century Gothic"/>
              </a:defRPr>
            </a:pPr>
            <a:r>
              <a:t>Solo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Minimal context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Freeform questions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Starts fresh every time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Generic outputs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'Write me an email'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316A"/>
                </a:solidFill>
                <a:latin typeface="Century Gothic"/>
              </a:defRPr>
            </a:pPr>
            <a:r>
              <a:t>Squadron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Rich background context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Organized structure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Maintains persistent knowledge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Tailored outputs</a:t>
            </a:r>
          </a:p>
          <a:p>
            <a:pPr>
              <a:spcAft>
                <a:spcPts val="600"/>
              </a:spcAft>
              <a:defRPr sz="1800">
                <a:solidFill>
                  <a:srgbClr val="14203F"/>
                </a:solidFill>
                <a:latin typeface="Century Gothic"/>
              </a:defRPr>
            </a:pPr>
            <a:r>
              <a:t>• 'Given this account's history...'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5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Four Squadron roles: Mission Control, Recon and Radar, Flight Recorder, Specialized Units</a:t>
            </a:r>
          </a:p>
          <a:p>
            <a:pPr>
              <a:spcAft>
                <a:spcPts val="12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Traffic Light Protocol: Green (go), Yellow (review), Red (never)</a:t>
            </a:r>
          </a:p>
          <a:p>
            <a:pPr>
              <a:spcAft>
                <a:spcPts val="12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Core principle: AI drafts, humans send</a:t>
            </a:r>
          </a:p>
          <a:p>
            <a:pPr>
              <a:spcAft>
                <a:spcPts val="12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Squadron Leader mindset: orchestrate with context, structure and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3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What's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Module 1: The Cognitive Shift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Understand how reasoning engines actually work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Move from search engine thinking to reasoning engine thinking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Learn why context matters so much</a:t>
            </a:r>
          </a:p>
          <a:p>
            <a:pPr>
              <a:spcAft>
                <a:spcPts val="600"/>
              </a:spcAft>
              <a:defRPr sz="2000">
                <a:solidFill>
                  <a:srgbClr val="14203F"/>
                </a:solidFill>
                <a:latin typeface="Century Gothic"/>
              </a:defRPr>
            </a:pPr>
            <a:r>
              <a:t>• But first: Complete the lab exercise to verify your cockpit is operational!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ED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entury Gothic"/>
              </a:defRPr>
            </a:pPr>
            <a:r>
              <a:t>Pre-Flight Check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D4B5"/>
                </a:solidFill>
                <a:latin typeface="Century Gothic"/>
              </a:defRPr>
            </a:pPr>
            <a:r>
              <a:t>Your cockpit is ready. See you in Module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